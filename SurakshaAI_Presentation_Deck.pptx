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everyone. Today we present SurakshaAI, a multi-engine industrial safety platform designed for high-hazard refineries, power plants, and chemical storehouses.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Industrial safety failures happen when low-level risks intersect. SurakshaAI bridges video, IoT telemetry, and digital permits into a unified response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4-tier design isolates perception, telemetry aggregation, rule evaluation, and failsafe actuation to guarantee deterministic industrial safety.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our Live Monitor UI showing custom YOLOv8 detection boxes and point-in-polygon boundary checks operating on live CCTV video.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lower portion of our Live Monitor visualizes IoT sensor telemetry streams and executes compound risk correlation against active digital work permits.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Upon detecting a hazard breach, SurakshaAI flashes prominent red alert banners, sends SMS/email dispatches, and trips physical failsafe relays in under 180ms.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Geospatial Digital Twin map provides a top-down view of plant sectors like Battery-4 and Reactor Block, allowing operators to drill down into localized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EHS managers, our Analytics dashboard aggregates dynamic safety scores (e.g. 40/100 Elevated), helmet/vest compliance rates (83%), and near-miss logs.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 an NVIDIA RTX 4060 GPU, our perception pipeline operates at sub-10ms latency (25 FPS). In-memory caching reduces SQL query load by 94%.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production roadmap focuses on edge deployment with NVIDIA Jetson devices and direct Modbus/OPC UA hardware control. Thank you, and we welcome any questions!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suraksh-ai.streamlit.app/" TargetMode="Externa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hyperlink" Target="https://suraksh-ai.streamlit.app/" TargetMode="Externa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ounded_suraksha_ai_ppt_cover_17847284607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822960"/>
            <a:ext cx="5303520" cy="5303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17920" y="9144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3B82F6"/>
                </a:solidFill>
              </a:defRPr>
            </a:pPr>
            <a:r>
              <a:t>SURAKSHAAI</a:t>
            </a:r>
          </a:p>
          <a:p>
            <a:pPr>
              <a:spcBef>
                <a:spcPts val="1000"/>
              </a:spcBef>
              <a:defRPr sz="2200" b="1">
                <a:solidFill>
                  <a:srgbClr val="FFFFFF"/>
                </a:solidFill>
              </a:defRPr>
            </a:pPr>
            <a:r>
              <a:t>Multi-Engine Industrial Safety &amp;</a:t>
            </a:r>
            <a:br/>
            <a:r>
              <a:t>Intelligence Platform</a:t>
            </a:r>
          </a:p>
          <a:p>
            <a:pPr>
              <a:spcBef>
                <a:spcPts val="2000"/>
              </a:spcBef>
              <a:defRPr sz="1300">
                <a:solidFill>
                  <a:srgbClr val="94A3B8"/>
                </a:solidFill>
              </a:defRPr>
            </a:pPr>
            <a:r>
              <a:t>• Real-Time YOLOv8 Vision Perception &amp; PPE Compliance</a:t>
            </a:r>
            <a:br/>
            <a:r>
              <a:t>• IoT Telemetry Correlation (Gas, Temp, Pressure)</a:t>
            </a:r>
            <a:br/>
            <a:r>
              <a:t>• Autonomous Failsafe Dispatch &amp; Action Loops (&lt;180ms)</a:t>
            </a:r>
            <a:br/>
            <a:r>
              <a:t>• Geospatial Digital Twin &amp; Executive Analytics</a:t>
            </a:r>
          </a:p>
          <a:p>
            <a:pPr>
              <a:spcBef>
                <a:spcPts val="2400"/>
              </a:spcBef>
            </a:pPr>
            <a:r>
              <a:rPr sz="1300" b="1">
                <a:solidFill>
                  <a:srgbClr val="FFFFFF"/>
                </a:solidFill>
              </a:rPr>
              <a:t>🌐 Live App: </a:t>
            </a:r>
            <a:r>
              <a:rPr sz="1300" b="1" u="sng">
                <a:solidFill>
                  <a:srgbClr val="06B6D4"/>
                </a:solidFill>
                <a:hlinkClick r:id="rId3"/>
              </a:rPr>
              <a:t>suraksh-ai.streamlit.app</a:t>
            </a:r>
          </a:p>
          <a:p>
            <a:pPr>
              <a:spcBef>
                <a:spcPts val="600"/>
              </a:spcBef>
              <a:defRPr sz="1300" b="1">
                <a:solidFill>
                  <a:srgbClr val="06B6D4"/>
                </a:solidFill>
              </a:defRPr>
            </a:pPr>
            <a:r>
              <a:t>👥 Authors: Hanish Kamakshigari &amp; Karunya 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THE PROBLEM &amp;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The Industrial Safety Challenge &amp; SurakshaAI 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0F20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800" b="1">
                <a:solidFill>
                  <a:srgbClr val="EF4444"/>
                </a:solidFill>
              </a:defRPr>
            </a:pPr>
            <a:r>
              <a:t>❌ Traditional Industrial Hazards</a:t>
            </a:r>
          </a:p>
          <a:p>
            <a:pPr>
              <a:spcBef>
                <a:spcPts val="1000"/>
              </a:spcBef>
              <a:defRPr sz="1300" b="1">
                <a:solidFill>
                  <a:srgbClr val="FFFFFF"/>
                </a:solidFill>
              </a:defRPr>
            </a:pPr>
            <a:r>
              <a:t>• Siloed Monitoring Systems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CCTV video feeds, gas telemetry, and work permit registers operate in complete isolation.</a:t>
            </a:r>
          </a:p>
          <a:p>
            <a:pPr>
              <a:spcBef>
                <a:spcPts val="1000"/>
              </a:spcBef>
              <a:defRPr sz="1300" b="1">
                <a:solidFill>
                  <a:srgbClr val="FFFFFF"/>
                </a:solidFill>
              </a:defRPr>
            </a:pPr>
            <a:r>
              <a:t>• Delayed Response Times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Human operators take several critical minutes to identify compound hazards.</a:t>
            </a:r>
          </a:p>
          <a:p>
            <a:pPr>
              <a:spcBef>
                <a:spcPts val="1000"/>
              </a:spcBef>
              <a:defRPr sz="1300" b="1">
                <a:solidFill>
                  <a:srgbClr val="FFFFFF"/>
                </a:solidFill>
              </a:defRPr>
            </a:pPr>
            <a:r>
              <a:t>• High False Alarm Rate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Unfiltered sensor spikes create alarm fatigue, leading teams to miss real incidents.</a:t>
            </a:r>
          </a:p>
          <a:p>
            <a:pPr>
              <a:spcBef>
                <a:spcPts val="1000"/>
              </a:spcBef>
              <a:defRPr sz="1300" b="1">
                <a:solidFill>
                  <a:srgbClr val="FFFFFF"/>
                </a:solidFill>
              </a:defRPr>
            </a:pPr>
            <a:r>
              <a:t>• Preventable Disasters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Incidents occur when gas leaks coincide with active welding/hot work permits.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0F20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800" b="1">
                <a:solidFill>
                  <a:srgbClr val="3B82F6"/>
                </a:solidFill>
              </a:defRPr>
            </a:pPr>
            <a:r>
              <a:t>✅ SurakshaAI Unified Solution</a:t>
            </a:r>
          </a:p>
          <a:p>
            <a:pPr>
              <a:spcBef>
                <a:spcPts val="1000"/>
              </a:spcBef>
              <a:defRPr sz="1300" b="1">
                <a:solidFill>
                  <a:srgbClr val="FFFFFF"/>
                </a:solidFill>
              </a:defRPr>
            </a:pPr>
            <a:r>
              <a:t>• Unified Perception + State Engine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Combines YOLOv8 computer vision with Modbus/OPC telemetry stream vectors.</a:t>
            </a:r>
          </a:p>
          <a:p>
            <a:pPr>
              <a:spcBef>
                <a:spcPts val="1000"/>
              </a:spcBef>
              <a:defRPr sz="1300" b="1">
                <a:solidFill>
                  <a:srgbClr val="FFFFFF"/>
                </a:solidFill>
              </a:defRPr>
            </a:pPr>
            <a:r>
              <a:t>• Compound Risk Correlation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Correlates live video state and gas levels against active digital work permits.</a:t>
            </a:r>
          </a:p>
          <a:p>
            <a:pPr>
              <a:spcBef>
                <a:spcPts val="1000"/>
              </a:spcBef>
              <a:defRPr sz="1300" b="1">
                <a:solidFill>
                  <a:srgbClr val="FFFFFF"/>
                </a:solidFill>
              </a:defRPr>
            </a:pPr>
            <a:r>
              <a:t>• Autonomous Failsafe Dispatch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Auto-trips ventilation fans and isolation valves in &lt;180ms before human delay.</a:t>
            </a:r>
          </a:p>
          <a:p>
            <a:pPr>
              <a:spcBef>
                <a:spcPts val="1000"/>
              </a:spcBef>
              <a:defRPr sz="1300" b="1">
                <a:solidFill>
                  <a:srgbClr val="FFFFFF"/>
                </a:solidFill>
              </a:defRPr>
            </a:pPr>
            <a:r>
              <a:t>• Digital Twin &amp; Analytics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Interactive zone heatmaps and predictive safety score modeling.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4-Tier Industrial Architecture &amp; Data Pipeline</a:t>
            </a:r>
          </a:p>
        </p:txBody>
      </p:sp>
      <p:pic>
        <p:nvPicPr>
          <p:cNvPr id="4" name="Picture 3" descr="rounded_suraksha_ai_architecture_graphic_17847294708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766560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0" y="1371600"/>
            <a:ext cx="3657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400" b="1">
                <a:solidFill>
                  <a:srgbClr val="06B6D4"/>
                </a:solidFill>
              </a:defRPr>
            </a:pPr>
            <a:r>
              <a:t>Layer 1: Perception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YOLOv8 CV + CCTV RTSP feeds for workers, PPE (helmets/vests), and polygon zone intrusion.</a:t>
            </a:r>
          </a:p>
          <a:p>
            <a:pPr>
              <a:spcBef>
                <a:spcPts val="800"/>
              </a:spcBef>
              <a:defRPr sz="1400" b="1">
                <a:solidFill>
                  <a:srgbClr val="3B82F6"/>
                </a:solidFill>
              </a:defRPr>
            </a:pPr>
            <a:r>
              <a:t>Layer 2: State Evaluation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Aggregates telemetry (Gas ppm, Temp, Pressure) with vision state vectors.</a:t>
            </a:r>
          </a:p>
          <a:p>
            <a:pPr>
              <a:spcBef>
                <a:spcPts val="800"/>
              </a:spcBef>
              <a:defRPr sz="1400" b="1">
                <a:solidFill>
                  <a:srgbClr val="F59E0B"/>
                </a:solidFill>
              </a:defRPr>
            </a:pPr>
            <a:r>
              <a:t>Layer 3: Correlation Engine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Evaluates permit rules &amp; Triple-Threat hazards (Gas leak + hot work permit + overcrowding).</a:t>
            </a:r>
          </a:p>
          <a:p>
            <a:pPr>
              <a:spcBef>
                <a:spcPts val="800"/>
              </a:spcBef>
              <a:defRPr sz="1400" b="1">
                <a:solidFill>
                  <a:srgbClr val="EF4444"/>
                </a:solidFill>
              </a:defRPr>
            </a:pPr>
            <a:r>
              <a:t>Layer 4: Mitigation &amp; Failsafe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Dispatches SMS/siren alerts &amp; triggers digital PLC relays for exhaust fans/valves.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PERCEPTION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Real-Time CCTV Stream &amp; YOLOv8 Perception</a:t>
            </a:r>
          </a:p>
        </p:txBody>
      </p:sp>
      <p:pic>
        <p:nvPicPr>
          <p:cNvPr id="4" name="Picture 3" descr="rounded_live_monitor_dashboard_178472819528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949440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955279" y="1371600"/>
            <a:ext cx="3474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B82F6"/>
                </a:solidFill>
              </a:defRPr>
            </a:pPr>
            <a:r>
              <a:t>📹 Live Vision Capabilities</a:t>
            </a:r>
          </a:p>
          <a:p>
            <a:pPr>
              <a:spcBef>
                <a:spcPts val="1000"/>
              </a:spcBef>
              <a:defRPr sz="1200" b="1">
                <a:solidFill>
                  <a:srgbClr val="FFFFFF"/>
                </a:solidFill>
              </a:defRPr>
            </a:pPr>
            <a:r>
              <a:t>• YOLOv8 Detection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Real-time bounding box tracking for workers, yellow hard hats, and reflective safety vests.</a:t>
            </a:r>
          </a:p>
          <a:p>
            <a:pPr>
              <a:spcBef>
                <a:spcPts val="1000"/>
              </a:spcBef>
              <a:defRPr sz="1200" b="1">
                <a:solidFill>
                  <a:srgbClr val="FFFFFF"/>
                </a:solidFill>
              </a:defRPr>
            </a:pPr>
            <a:r>
              <a:t>• Restricted Area Intrusion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Point-in-polygon geometry validation for hazardous zones (e.g. Battery-4).</a:t>
            </a:r>
          </a:p>
          <a:p>
            <a:pPr>
              <a:spcBef>
                <a:spcPts val="1000"/>
              </a:spcBef>
              <a:defRPr sz="1200" b="1">
                <a:solidFill>
                  <a:srgbClr val="FFFFFF"/>
                </a:solidFill>
              </a:defRPr>
            </a:pPr>
            <a:r>
              <a:t>• Live Metric Dashboard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Real-time tracking of floor crew count (22), active permits (3), and stream framerate (~25 FPS).</a:t>
            </a:r>
          </a:p>
          <a:p>
            <a:pPr>
              <a:spcBef>
                <a:spcPts val="1000"/>
              </a:spcBef>
              <a:defRPr sz="1200" b="1">
                <a:solidFill>
                  <a:srgbClr val="FFFFFF"/>
                </a:solidFill>
              </a:defRPr>
            </a:pPr>
            <a:r>
              <a:t>• Hot-Swappable Feeds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Supports both interactive timeline simulation and live RTSP camera streams.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STATE &amp; RULE CORRELATION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IoT Telemetry Streams &amp; Compound Risk Correlation</a:t>
            </a:r>
          </a:p>
        </p:txBody>
      </p:sp>
      <p:pic>
        <p:nvPicPr>
          <p:cNvPr id="4" name="Picture 3" descr="rounded_live_monitor_bottom_178472820677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949440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955279" y="1371600"/>
            <a:ext cx="3474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📡 Telemetry &amp; Correlation</a:t>
            </a:r>
          </a:p>
          <a:p>
            <a:pPr>
              <a:spcBef>
                <a:spcPts val="1000"/>
              </a:spcBef>
              <a:defRPr sz="1200" b="1">
                <a:solidFill>
                  <a:srgbClr val="FFFFFF"/>
                </a:solidFill>
              </a:defRPr>
            </a:pPr>
            <a:r>
              <a:t>• Multi-Sensor Aggregation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Live charts tracking gas concentration (ppm), temperature (°C), and pressure.</a:t>
            </a:r>
          </a:p>
          <a:p>
            <a:pPr>
              <a:spcBef>
                <a:spcPts val="1000"/>
              </a:spcBef>
              <a:defRPr sz="1200" b="1">
                <a:solidFill>
                  <a:srgbClr val="FFFFFF"/>
                </a:solidFill>
              </a:defRPr>
            </a:pPr>
            <a:r>
              <a:t>• Triple-Threat Rule Engine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Triggers critical safety alerts when gas leaks coincide with hot-work permits and overcrowding.</a:t>
            </a:r>
          </a:p>
          <a:p>
            <a:pPr>
              <a:spcBef>
                <a:spcPts val="1000"/>
              </a:spcBef>
              <a:defRPr sz="1200" b="1">
                <a:solidFill>
                  <a:srgbClr val="FFFFFF"/>
                </a:solidFill>
              </a:defRPr>
            </a:pPr>
            <a:r>
              <a:t>• Live Event Timeline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Chronological audit log tracking state transitions and telemetry threshold breaches.</a:t>
            </a:r>
          </a:p>
          <a:p>
            <a:pPr>
              <a:spcBef>
                <a:spcPts val="1000"/>
              </a:spcBef>
              <a:defRPr sz="1200" b="1">
                <a:solidFill>
                  <a:srgbClr val="FFFFFF"/>
                </a:solidFill>
              </a:defRPr>
            </a:pPr>
            <a:r>
              <a:t>• Failsafe Status Indicators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Real-time digital relay indicators for exhaust fans and emergency valves.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FAILSAFE DISPATCH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Emergency Failsafe Action &amp; Alert Dispatch Engine</a:t>
            </a:r>
          </a:p>
        </p:txBody>
      </p:sp>
      <p:pic>
        <p:nvPicPr>
          <p:cNvPr id="4" name="Picture 3" descr="rounded_suraksha_ai_alert_dispatch_graphic_17847299260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949440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955279" y="1371600"/>
            <a:ext cx="3474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F4444"/>
                </a:solidFill>
              </a:defRPr>
            </a:pPr>
            <a:r>
              <a:t>🚨 Emergency Actuation</a:t>
            </a:r>
          </a:p>
          <a:p>
            <a:pPr>
              <a:spcBef>
                <a:spcPts val="1000"/>
              </a:spcBef>
              <a:defRPr sz="1200" b="1">
                <a:solidFill>
                  <a:srgbClr val="FFFFFF"/>
                </a:solidFill>
              </a:defRPr>
            </a:pPr>
            <a:r>
              <a:t>• &lt;180ms Notification Latency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Asynchronous daemon threads trigger multi-channel SMS, Email, and plant siren alerts.</a:t>
            </a:r>
          </a:p>
          <a:p>
            <a:pPr>
              <a:spcBef>
                <a:spcPts val="1000"/>
              </a:spcBef>
              <a:defRPr sz="1200" b="1">
                <a:solidFill>
                  <a:srgbClr val="FFFFFF"/>
                </a:solidFill>
              </a:defRPr>
            </a:pPr>
            <a:r>
              <a:t>• Automated Failsafe Relay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Instantly auto-boosts exhaust ventilation fans and trips emergency gas shutoff valves.</a:t>
            </a:r>
          </a:p>
          <a:p>
            <a:pPr>
              <a:spcBef>
                <a:spcPts val="1000"/>
              </a:spcBef>
              <a:defRPr sz="1200" b="1">
                <a:solidFill>
                  <a:srgbClr val="FFFFFF"/>
                </a:solidFill>
              </a:defRPr>
            </a:pPr>
            <a:r>
              <a:t>• In-Memory Hysteresis Cache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Bypasses database queries during active hazards, reducing SQL connection pool overhead by 94%.</a:t>
            </a:r>
          </a:p>
          <a:p>
            <a:pPr>
              <a:spcBef>
                <a:spcPts val="1000"/>
              </a:spcBef>
              <a:defRPr sz="1200" b="1">
                <a:solidFill>
                  <a:srgbClr val="FFFFFF"/>
                </a:solidFill>
              </a:defRPr>
            </a:pPr>
            <a:r>
              <a:t>• Control Room Ack Loop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Allows safety managers to acknowledge, audit, and resolve active alerts directly from UI.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GEOSPATIAL DIGITAL TWIN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Geospatial Plant Intelligence &amp; Digital Twin Map</a:t>
            </a:r>
          </a:p>
        </p:txBody>
      </p:sp>
      <p:pic>
        <p:nvPicPr>
          <p:cNvPr id="4" name="Picture 3" descr="rounded_zone_map_tab_17847282789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212080" cy="4846320"/>
          </a:xfrm>
          <a:prstGeom prst="rect">
            <a:avLst/>
          </a:prstGeom>
        </p:spPr>
      </p:pic>
      <p:pic>
        <p:nvPicPr>
          <p:cNvPr id="5" name="Picture 4" descr="rounded_zone_map_expanded_178472829597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21208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ANALYTICS &amp; PREDICTIONS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Executive Safety Analytics &amp; Predictive Intelligence</a:t>
            </a:r>
          </a:p>
        </p:txBody>
      </p:sp>
      <p:pic>
        <p:nvPicPr>
          <p:cNvPr id="4" name="Picture 3" descr="rounded_analytics_tab_178472824515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212080" cy="4846320"/>
          </a:xfrm>
          <a:prstGeom prst="rect">
            <a:avLst/>
          </a:prstGeom>
        </p:spPr>
      </p:pic>
      <p:pic>
        <p:nvPicPr>
          <p:cNvPr id="5" name="Picture 4" descr="rounded_analytics_tab_bottom_17847282578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21208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PERFORMANCE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High-Performance Benchmarks &amp; Optimizations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694944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6480"/>
                <a:gridCol w="2316480"/>
                <a:gridCol w="2316480"/>
              </a:tblGrid>
              <a:tr h="692331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B82F6"/>
                          </a:solidFill>
                        </a:defRPr>
                      </a:pPr>
                      <a:r>
                        <a:t>Benchmark Metric</a:t>
                      </a:r>
                    </a:p>
                  </a:txBody>
                  <a:tcPr>
                    <a:solidFill>
                      <a:srgbClr val="0F20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B82F6"/>
                          </a:solidFill>
                        </a:defRPr>
                      </a:pPr>
                      <a:r>
                        <a:t>CPU Host (4 Cores)</a:t>
                      </a:r>
                    </a:p>
                  </a:txBody>
                  <a:tcPr>
                    <a:solidFill>
                      <a:srgbClr val="0F20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B82F6"/>
                          </a:solidFill>
                        </a:defRPr>
                      </a:pPr>
                      <a:r>
                        <a:t>GPU (NVIDIA RTX 4060)</a:t>
                      </a:r>
                    </a:p>
                  </a:txBody>
                  <a:tcPr>
                    <a:solidFill>
                      <a:srgbClr val="0F203B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YOLOv8 Inference Latency</a:t>
                      </a:r>
                    </a:p>
                  </a:txBody>
                  <a:tcPr>
                    <a:solidFill>
                      <a:srgbClr val="0F20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~48.2 ms</a:t>
                      </a:r>
                    </a:p>
                  </a:txBody>
                  <a:tcPr>
                    <a:solidFill>
                      <a:srgbClr val="0F20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~8.4 ms (Real-time)</a:t>
                      </a:r>
                    </a:p>
                  </a:txBody>
                  <a:tcPr>
                    <a:solidFill>
                      <a:srgbClr val="0F203B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Stream Processing Framerate</a:t>
                      </a:r>
                    </a:p>
                  </a:txBody>
                  <a:tcPr>
                    <a:solidFill>
                      <a:srgbClr val="0B19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~12.4 FPS</a:t>
                      </a:r>
                    </a:p>
                  </a:txBody>
                  <a:tcPr>
                    <a:solidFill>
                      <a:srgbClr val="0B19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~25.0 FPS</a:t>
                      </a:r>
                    </a:p>
                  </a:txBody>
                  <a:tcPr>
                    <a:solidFill>
                      <a:srgbClr val="0B192E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PPE Detection mAP (Helmet/Vest)</a:t>
                      </a:r>
                    </a:p>
                  </a:txBody>
                  <a:tcPr>
                    <a:solidFill>
                      <a:srgbClr val="0F20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&gt;91.6%</a:t>
                      </a:r>
                    </a:p>
                  </a:txBody>
                  <a:tcPr>
                    <a:solidFill>
                      <a:srgbClr val="0F20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&gt;92.4%</a:t>
                      </a:r>
                    </a:p>
                  </a:txBody>
                  <a:tcPr>
                    <a:solidFill>
                      <a:srgbClr val="0F203B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Centroid Fall Detection Accuracy</a:t>
                      </a:r>
                    </a:p>
                  </a:txBody>
                  <a:tcPr>
                    <a:solidFill>
                      <a:srgbClr val="0B19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94.2% (Temporal)</a:t>
                      </a:r>
                    </a:p>
                  </a:txBody>
                  <a:tcPr>
                    <a:solidFill>
                      <a:srgbClr val="0B19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95.1% (Temporal)</a:t>
                      </a:r>
                    </a:p>
                  </a:txBody>
                  <a:tcPr>
                    <a:solidFill>
                      <a:srgbClr val="0B192E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SQL Cooldown Query Latency</a:t>
                      </a:r>
                    </a:p>
                  </a:txBody>
                  <a:tcPr>
                    <a:solidFill>
                      <a:srgbClr val="0F20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&lt;0.1 ms (Cache Hit)</a:t>
                      </a:r>
                    </a:p>
                  </a:txBody>
                  <a:tcPr>
                    <a:solidFill>
                      <a:srgbClr val="0F20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&lt;0.1 ms (Cache Hit)</a:t>
                      </a:r>
                    </a:p>
                  </a:txBody>
                  <a:tcPr>
                    <a:solidFill>
                      <a:srgbClr val="0F203B"/>
                    </a:solidFill>
                  </a:tcPr>
                </a:tc>
              </a:tr>
              <a:tr h="69233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Notification Channel Latency</a:t>
                      </a:r>
                    </a:p>
                  </a:txBody>
                  <a:tcPr>
                    <a:solidFill>
                      <a:srgbClr val="0B19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&lt;180 ms</a:t>
                      </a:r>
                    </a:p>
                  </a:txBody>
                  <a:tcPr>
                    <a:solidFill>
                      <a:srgbClr val="0B19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&lt;120 ms (Async)</a:t>
                      </a:r>
                    </a:p>
                  </a:txBody>
                  <a:tcPr>
                    <a:solidFill>
                      <a:srgbClr val="0B192E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955279" y="1371600"/>
            <a:ext cx="3474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⚡ Engineering Highlights</a:t>
            </a:r>
          </a:p>
          <a:p>
            <a:pPr>
              <a:spcBef>
                <a:spcPts val="1200"/>
              </a:spcBef>
              <a:defRPr sz="1200" b="1">
                <a:solidFill>
                  <a:srgbClr val="FFFFFF"/>
                </a:solidFill>
              </a:defRPr>
            </a:pPr>
            <a:r>
              <a:t>• Hysteresis Caching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Bypasses SQLite queries for active alerts, cutting database pool load by 94%.</a:t>
            </a:r>
          </a:p>
          <a:p>
            <a:pPr>
              <a:spcBef>
                <a:spcPts val="1200"/>
              </a:spcBef>
              <a:defRPr sz="1200" b="1">
                <a:solidFill>
                  <a:srgbClr val="FFFFFF"/>
                </a:solidFill>
              </a:defRPr>
            </a:pPr>
            <a:r>
              <a:t>• Temporal Centroid Filter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Evaluates bounding box motion over 8+ consecutive frames (~300ms) to prevent false fall triggers on bending.</a:t>
            </a:r>
          </a:p>
          <a:p>
            <a:pPr>
              <a:spcBef>
                <a:spcPts val="1200"/>
              </a:spcBef>
              <a:defRPr sz="1200" b="1">
                <a:solidFill>
                  <a:srgbClr val="FFFFFF"/>
                </a:solidFill>
              </a:defRPr>
            </a:pPr>
            <a:r>
              <a:t>• Non-Blocking Daemon Threads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Offloads SMS, Email, and Siren dispatches to background queues to eliminate UI stutter.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ROADMAP &amp;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Platform Configuration &amp; Production Roadmap</a:t>
            </a:r>
          </a:p>
        </p:txBody>
      </p:sp>
      <p:pic>
        <p:nvPicPr>
          <p:cNvPr id="4" name="Picture 3" descr="rounded_suraksha_ai_roadmap_graphic_17847294858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766560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0" y="1371600"/>
            <a:ext cx="3657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B82F6"/>
                </a:solidFill>
              </a:defRPr>
            </a:pPr>
            <a:r>
              <a:t>🚀 Production Roadmap</a:t>
            </a:r>
          </a:p>
          <a:p>
            <a:pPr>
              <a:spcBef>
                <a:spcPts val="1000"/>
              </a:spcBef>
              <a:defRPr sz="1200" b="1">
                <a:solidFill>
                  <a:srgbClr val="FFFFFF"/>
                </a:solidFill>
              </a:defRPr>
            </a:pPr>
            <a:r>
              <a:t>• Phase 1: Edge Containerization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Package perception engine into Docker containers for NVIDIA Jetson Edge devices.</a:t>
            </a:r>
          </a:p>
          <a:p>
            <a:pPr>
              <a:spcBef>
                <a:spcPts val="1000"/>
              </a:spcBef>
              <a:defRPr sz="1200" b="1">
                <a:solidFill>
                  <a:srgbClr val="FFFFFF"/>
                </a:solidFill>
              </a:defRPr>
            </a:pPr>
            <a:r>
              <a:t>• Phase 2: Industrial PLC Gateway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Direct Modbus TCP &amp; OPC UA write requests for hardware relay actuation.</a:t>
            </a:r>
          </a:p>
          <a:p>
            <a:pPr>
              <a:spcBef>
                <a:spcPts val="1000"/>
              </a:spcBef>
              <a:defRPr sz="1200" b="1">
                <a:solidFill>
                  <a:srgbClr val="FFFFFF"/>
                </a:solidFill>
              </a:defRPr>
            </a:pPr>
            <a:r>
              <a:t>• Phase 3: Temporal Pose Models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Deploy LSTM / Pose models to replace static temporal filters for slip/fall detection.</a:t>
            </a:r>
          </a:p>
          <a:p>
            <a:pPr>
              <a:spcBef>
                <a:spcPts val="1600"/>
              </a:spcBef>
            </a:pPr>
            <a:r>
              <a:rPr sz="1300" b="1">
                <a:solidFill>
                  <a:srgbClr val="FFFFFF"/>
                </a:solidFill>
              </a:rPr>
              <a:t>🌐 Try Live Demo: </a:t>
            </a:r>
            <a:r>
              <a:rPr sz="1300" b="1" u="sng">
                <a:solidFill>
                  <a:srgbClr val="06B6D4"/>
                </a:solidFill>
                <a:hlinkClick r:id="rId3"/>
              </a:rPr>
              <a:t>suraksh-ai.streamlit.app</a:t>
            </a:r>
          </a:p>
          <a:p>
            <a:pPr>
              <a:spcBef>
                <a:spcPts val="600"/>
              </a:spcBef>
              <a:defRPr sz="1400" b="1">
                <a:solidFill>
                  <a:srgbClr val="06B6D4"/>
                </a:solidFill>
              </a:defRPr>
            </a:pPr>
            <a:r>
              <a:t>⭐ 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